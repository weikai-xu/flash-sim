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8" d="100"/>
          <a:sy n="158" d="100"/>
        </p:scale>
        <p:origin x="144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20BA8F4-B1F5-4C45-BBE3-7E80F0EF852A}"/>
              </a:ext>
            </a:extLst>
          </p:cNvPr>
          <p:cNvSpPr/>
          <p:nvPr/>
        </p:nvSpPr>
        <p:spPr>
          <a:xfrm>
            <a:off x="2725222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F4F05F-7076-4504-9116-9A659987CFCD}"/>
              </a:ext>
            </a:extLst>
          </p:cNvPr>
          <p:cNvSpPr/>
          <p:nvPr/>
        </p:nvSpPr>
        <p:spPr>
          <a:xfrm>
            <a:off x="3034407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1CB9E6-4193-4597-89C2-4504676037BC}"/>
              </a:ext>
            </a:extLst>
          </p:cNvPr>
          <p:cNvSpPr/>
          <p:nvPr/>
        </p:nvSpPr>
        <p:spPr>
          <a:xfrm>
            <a:off x="3343592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BD0789-FE76-4191-994D-24B83E0B0930}"/>
              </a:ext>
            </a:extLst>
          </p:cNvPr>
          <p:cNvSpPr/>
          <p:nvPr/>
        </p:nvSpPr>
        <p:spPr>
          <a:xfrm>
            <a:off x="3647293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84512A-3F8E-4243-9E94-512CFB55972E}"/>
              </a:ext>
            </a:extLst>
          </p:cNvPr>
          <p:cNvSpPr/>
          <p:nvPr/>
        </p:nvSpPr>
        <p:spPr>
          <a:xfrm>
            <a:off x="3942775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81A716-A9E5-4B94-8892-920711772A82}"/>
              </a:ext>
            </a:extLst>
          </p:cNvPr>
          <p:cNvSpPr/>
          <p:nvPr/>
        </p:nvSpPr>
        <p:spPr>
          <a:xfrm>
            <a:off x="242191" y="569278"/>
            <a:ext cx="1427517" cy="315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Stream_1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CE0783-6B9F-49AB-8029-C16461D6F6B0}"/>
              </a:ext>
            </a:extLst>
          </p:cNvPr>
          <p:cNvSpPr/>
          <p:nvPr/>
        </p:nvSpPr>
        <p:spPr>
          <a:xfrm>
            <a:off x="242191" y="1010032"/>
            <a:ext cx="1427517" cy="315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Stream_2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2AAF5D-9D54-4ED1-8311-250381E6ADB3}"/>
              </a:ext>
            </a:extLst>
          </p:cNvPr>
          <p:cNvSpPr/>
          <p:nvPr/>
        </p:nvSpPr>
        <p:spPr>
          <a:xfrm>
            <a:off x="242191" y="1786285"/>
            <a:ext cx="1427517" cy="315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Stream_n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4370C99-356A-4AC7-B11C-E06A47A7D80D}"/>
              </a:ext>
            </a:extLst>
          </p:cNvPr>
          <p:cNvSpPr/>
          <p:nvPr/>
        </p:nvSpPr>
        <p:spPr>
          <a:xfrm>
            <a:off x="1947529" y="569278"/>
            <a:ext cx="763096" cy="3157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req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E4F03E-19A3-4589-9579-7AC5FDD71C5E}"/>
              </a:ext>
            </a:extLst>
          </p:cNvPr>
          <p:cNvSpPr/>
          <p:nvPr/>
        </p:nvSpPr>
        <p:spPr>
          <a:xfrm>
            <a:off x="2730702" y="571053"/>
            <a:ext cx="1534964" cy="3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transactions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65D6DA-9A6D-4350-9FE6-A3C81DBD0090}"/>
              </a:ext>
            </a:extLst>
          </p:cNvPr>
          <p:cNvSpPr/>
          <p:nvPr/>
        </p:nvSpPr>
        <p:spPr>
          <a:xfrm>
            <a:off x="5417987" y="211947"/>
            <a:ext cx="3943102" cy="1873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ED71D2-6FB9-43FC-9F0E-436E7EF94220}"/>
              </a:ext>
            </a:extLst>
          </p:cNvPr>
          <p:cNvSpPr/>
          <p:nvPr/>
        </p:nvSpPr>
        <p:spPr>
          <a:xfrm>
            <a:off x="10712136" y="462592"/>
            <a:ext cx="1328841" cy="153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Flash Chips</a:t>
            </a:r>
            <a:endParaRPr lang="zh-CN" altLang="en-US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450FD7D-C964-466F-BE03-C1BB1F2EAC7F}"/>
              </a:ext>
            </a:extLst>
          </p:cNvPr>
          <p:cNvSpPr txBox="1"/>
          <p:nvPr/>
        </p:nvSpPr>
        <p:spPr>
          <a:xfrm>
            <a:off x="387113" y="3011703"/>
            <a:ext cx="6124936" cy="254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SSD</a:t>
            </a:r>
            <a:r>
              <a:rPr lang="zh-CN" altLang="en-US" dirty="0"/>
              <a:t>中的指令转换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HIL</a:t>
            </a:r>
            <a:r>
              <a:rPr lang="zh-CN" altLang="en-US" dirty="0"/>
              <a:t>中将一个</a:t>
            </a:r>
            <a:r>
              <a:rPr lang="en-US" altLang="zh-CN" dirty="0" err="1"/>
              <a:t>user_request</a:t>
            </a:r>
            <a:r>
              <a:rPr lang="zh-CN" altLang="en-US" dirty="0"/>
              <a:t>切分成</a:t>
            </a:r>
            <a:r>
              <a:rPr lang="en-US" altLang="zh-CN" b="1" dirty="0"/>
              <a:t>access</a:t>
            </a:r>
            <a:r>
              <a:rPr lang="zh-CN" altLang="en-US" b="1" dirty="0"/>
              <a:t>单个</a:t>
            </a:r>
            <a:r>
              <a:rPr lang="en-US" altLang="zh-CN" b="1" dirty="0"/>
              <a:t>page</a:t>
            </a:r>
            <a:r>
              <a:rPr lang="zh-CN" altLang="en-US" dirty="0"/>
              <a:t>的若干</a:t>
            </a:r>
            <a:r>
              <a:rPr lang="en-US" altLang="zh-CN" dirty="0"/>
              <a:t>transactions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为</a:t>
            </a:r>
            <a:r>
              <a:rPr lang="en-US" altLang="zh-CN" dirty="0"/>
              <a:t>mapping</a:t>
            </a:r>
            <a:r>
              <a:rPr lang="zh-CN" altLang="en-US" dirty="0"/>
              <a:t>、重组</a:t>
            </a:r>
            <a:r>
              <a:rPr lang="en-US" altLang="zh-CN" dirty="0"/>
              <a:t>transaction</a:t>
            </a:r>
            <a:r>
              <a:rPr lang="zh-CN" altLang="en-US" dirty="0"/>
              <a:t>便利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最后</a:t>
            </a:r>
            <a:r>
              <a:rPr lang="en-US" altLang="zh-CN" dirty="0"/>
              <a:t>TSU</a:t>
            </a:r>
            <a:r>
              <a:rPr lang="zh-CN" altLang="en-US" dirty="0"/>
              <a:t>选取可以合并的</a:t>
            </a:r>
            <a:r>
              <a:rPr lang="en-US" altLang="zh-CN" dirty="0"/>
              <a:t>transactions</a:t>
            </a:r>
            <a:r>
              <a:rPr lang="zh-CN" altLang="en-US" dirty="0"/>
              <a:t>打包成</a:t>
            </a:r>
            <a:r>
              <a:rPr lang="en-US" altLang="zh-CN" dirty="0"/>
              <a:t>command</a:t>
            </a:r>
            <a:r>
              <a:rPr lang="zh-CN" altLang="en-US" dirty="0"/>
              <a:t>发送给</a:t>
            </a:r>
            <a:r>
              <a:rPr lang="en-US" altLang="zh-CN" dirty="0"/>
              <a:t>Flash Chips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A355AA-40BC-465A-9D80-3693DAA46033}"/>
              </a:ext>
            </a:extLst>
          </p:cNvPr>
          <p:cNvSpPr txBox="1"/>
          <p:nvPr/>
        </p:nvSpPr>
        <p:spPr>
          <a:xfrm>
            <a:off x="7080607" y="192054"/>
            <a:ext cx="86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TSU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7D2AA0-CEBD-431E-A8C6-5F8B17EE34ED}"/>
              </a:ext>
            </a:extLst>
          </p:cNvPr>
          <p:cNvSpPr/>
          <p:nvPr/>
        </p:nvSpPr>
        <p:spPr>
          <a:xfrm>
            <a:off x="5417987" y="542719"/>
            <a:ext cx="1534964" cy="325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UserQueue</a:t>
            </a:r>
            <a:endParaRPr lang="zh-CN" altLang="en-US" sz="16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3BF292-E7D9-4EE0-9801-D5D3B6849F15}"/>
              </a:ext>
            </a:extLst>
          </p:cNvPr>
          <p:cNvSpPr/>
          <p:nvPr/>
        </p:nvSpPr>
        <p:spPr>
          <a:xfrm>
            <a:off x="5417987" y="1052547"/>
            <a:ext cx="1534964" cy="3256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MappingQueue</a:t>
            </a:r>
            <a:endParaRPr lang="zh-CN" altLang="en-US" sz="16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241494-3DE4-4B8E-9318-1025DB4BF9AE}"/>
              </a:ext>
            </a:extLst>
          </p:cNvPr>
          <p:cNvSpPr/>
          <p:nvPr/>
        </p:nvSpPr>
        <p:spPr>
          <a:xfrm>
            <a:off x="5417987" y="1548445"/>
            <a:ext cx="1534964" cy="3256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GCQueue</a:t>
            </a:r>
            <a:endParaRPr lang="zh-CN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38DEFA-6A3B-495B-B02E-96DEC3553AA3}"/>
              </a:ext>
            </a:extLst>
          </p:cNvPr>
          <p:cNvSpPr/>
          <p:nvPr/>
        </p:nvSpPr>
        <p:spPr>
          <a:xfrm>
            <a:off x="7060345" y="542719"/>
            <a:ext cx="450450" cy="1294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722313-AB34-446F-BF6E-57DA3218F887}"/>
              </a:ext>
            </a:extLst>
          </p:cNvPr>
          <p:cNvSpPr/>
          <p:nvPr/>
        </p:nvSpPr>
        <p:spPr>
          <a:xfrm>
            <a:off x="7060345" y="738895"/>
            <a:ext cx="450450" cy="1294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74F19F-9274-49F0-8F05-49AF6145B9EB}"/>
              </a:ext>
            </a:extLst>
          </p:cNvPr>
          <p:cNvSpPr/>
          <p:nvPr/>
        </p:nvSpPr>
        <p:spPr>
          <a:xfrm>
            <a:off x="7080607" y="1050619"/>
            <a:ext cx="450450" cy="12945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5618B1-C22F-4FB2-81CE-32D495074C99}"/>
              </a:ext>
            </a:extLst>
          </p:cNvPr>
          <p:cNvSpPr/>
          <p:nvPr/>
        </p:nvSpPr>
        <p:spPr>
          <a:xfrm>
            <a:off x="7080607" y="1246795"/>
            <a:ext cx="450450" cy="12945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46558A-975B-411A-805B-521789D945BE}"/>
              </a:ext>
            </a:extLst>
          </p:cNvPr>
          <p:cNvSpPr/>
          <p:nvPr/>
        </p:nvSpPr>
        <p:spPr>
          <a:xfrm>
            <a:off x="7078657" y="1483717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FBA2401-1CCF-4E7D-977F-CFBC4032D459}"/>
              </a:ext>
            </a:extLst>
          </p:cNvPr>
          <p:cNvSpPr/>
          <p:nvPr/>
        </p:nvSpPr>
        <p:spPr>
          <a:xfrm>
            <a:off x="7078657" y="1679893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395B71-7B6F-4173-8BFC-9DCD17B62634}"/>
              </a:ext>
            </a:extLst>
          </p:cNvPr>
          <p:cNvSpPr/>
          <p:nvPr/>
        </p:nvSpPr>
        <p:spPr>
          <a:xfrm>
            <a:off x="7078657" y="1865908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ER</a:t>
            </a:r>
            <a:endParaRPr lang="zh-CN" altLang="en-US" sz="1400" dirty="0"/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5C82ADCE-96F3-4775-80D6-5E557F370DF9}"/>
              </a:ext>
            </a:extLst>
          </p:cNvPr>
          <p:cNvSpPr/>
          <p:nvPr/>
        </p:nvSpPr>
        <p:spPr>
          <a:xfrm>
            <a:off x="6947305" y="552837"/>
            <a:ext cx="107394" cy="313652"/>
          </a:xfrm>
          <a:prstGeom prst="lef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左大括号 36">
            <a:extLst>
              <a:ext uri="{FF2B5EF4-FFF2-40B4-BE49-F238E27FC236}">
                <a16:creationId xmlns:a16="http://schemas.microsoft.com/office/drawing/2014/main" id="{CF22BFC0-5788-4E63-B078-A0A385A2C67B}"/>
              </a:ext>
            </a:extLst>
          </p:cNvPr>
          <p:cNvSpPr/>
          <p:nvPr/>
        </p:nvSpPr>
        <p:spPr>
          <a:xfrm>
            <a:off x="6963082" y="1058537"/>
            <a:ext cx="107394" cy="313652"/>
          </a:xfrm>
          <a:prstGeom prst="lef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2424041E-A087-4DEA-966E-9A332594AF5C}"/>
              </a:ext>
            </a:extLst>
          </p:cNvPr>
          <p:cNvSpPr/>
          <p:nvPr/>
        </p:nvSpPr>
        <p:spPr>
          <a:xfrm>
            <a:off x="6971263" y="1483716"/>
            <a:ext cx="107394" cy="511647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862E2C-387D-4B7D-B976-35FA0D37454D}"/>
              </a:ext>
            </a:extLst>
          </p:cNvPr>
          <p:cNvSpPr/>
          <p:nvPr/>
        </p:nvSpPr>
        <p:spPr>
          <a:xfrm>
            <a:off x="8657492" y="1032652"/>
            <a:ext cx="225241" cy="23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2A1B7F-B621-44D9-892B-F92BF050048A}"/>
              </a:ext>
            </a:extLst>
          </p:cNvPr>
          <p:cNvSpPr/>
          <p:nvPr/>
        </p:nvSpPr>
        <p:spPr>
          <a:xfrm>
            <a:off x="8431035" y="1032652"/>
            <a:ext cx="225241" cy="2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0987703-9992-4F0B-8933-786ADC0E9A3E}"/>
              </a:ext>
            </a:extLst>
          </p:cNvPr>
          <p:cNvSpPr/>
          <p:nvPr/>
        </p:nvSpPr>
        <p:spPr>
          <a:xfrm>
            <a:off x="8198521" y="1032652"/>
            <a:ext cx="225241" cy="2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B57C5A-2763-4133-94E0-E41AD84E1596}"/>
              </a:ext>
            </a:extLst>
          </p:cNvPr>
          <p:cNvSpPr/>
          <p:nvPr/>
        </p:nvSpPr>
        <p:spPr>
          <a:xfrm>
            <a:off x="7966007" y="1032652"/>
            <a:ext cx="225241" cy="2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3C04849-B8F1-40A2-B632-CCE715FCB853}"/>
              </a:ext>
            </a:extLst>
          </p:cNvPr>
          <p:cNvCxnSpPr/>
          <p:nvPr/>
        </p:nvCxnSpPr>
        <p:spPr>
          <a:xfrm>
            <a:off x="7529107" y="1115347"/>
            <a:ext cx="411877" cy="33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7CF30A8-8FF2-4964-97AD-E6A93BA2B840}"/>
              </a:ext>
            </a:extLst>
          </p:cNvPr>
          <p:cNvCxnSpPr>
            <a:cxnSpLocks/>
          </p:cNvCxnSpPr>
          <p:nvPr/>
        </p:nvCxnSpPr>
        <p:spPr>
          <a:xfrm>
            <a:off x="7510795" y="613117"/>
            <a:ext cx="1211174" cy="39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F2D9B6EA-65A0-441A-BB56-160CCBB56C45}"/>
              </a:ext>
            </a:extLst>
          </p:cNvPr>
          <p:cNvSpPr/>
          <p:nvPr/>
        </p:nvSpPr>
        <p:spPr>
          <a:xfrm>
            <a:off x="7903834" y="993341"/>
            <a:ext cx="1011852" cy="325632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C426FE5-3580-4A0F-8988-61883302E8F4}"/>
              </a:ext>
            </a:extLst>
          </p:cNvPr>
          <p:cNvSpPr txBox="1"/>
          <p:nvPr/>
        </p:nvSpPr>
        <p:spPr>
          <a:xfrm>
            <a:off x="7802751" y="1303963"/>
            <a:ext cx="1189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Command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6625120-3FC6-4137-81B9-125C0ED6C4A1}"/>
              </a:ext>
            </a:extLst>
          </p:cNvPr>
          <p:cNvCxnSpPr>
            <a:cxnSpLocks/>
          </p:cNvCxnSpPr>
          <p:nvPr/>
        </p:nvCxnSpPr>
        <p:spPr>
          <a:xfrm>
            <a:off x="8991793" y="1139504"/>
            <a:ext cx="16297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85AC96B-C98C-4256-827B-7EFB2C7E135A}"/>
              </a:ext>
            </a:extLst>
          </p:cNvPr>
          <p:cNvCxnSpPr>
            <a:cxnSpLocks/>
            <a:stCxn id="12" idx="3"/>
            <a:endCxn id="16" idx="2"/>
          </p:cNvCxnSpPr>
          <p:nvPr/>
        </p:nvCxnSpPr>
        <p:spPr>
          <a:xfrm>
            <a:off x="1669708" y="727160"/>
            <a:ext cx="277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B374E2C-5152-4CB0-B051-8F8FD8B2F3F9}"/>
              </a:ext>
            </a:extLst>
          </p:cNvPr>
          <p:cNvCxnSpPr>
            <a:cxnSpLocks/>
            <a:stCxn id="23" idx="3"/>
            <a:endCxn id="6" idx="1"/>
          </p:cNvCxnSpPr>
          <p:nvPr/>
        </p:nvCxnSpPr>
        <p:spPr>
          <a:xfrm flipV="1">
            <a:off x="4251960" y="705535"/>
            <a:ext cx="1166027" cy="21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49762F8-2CE1-4DDE-AEC2-857F2F4CD3B8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4265666" y="728935"/>
            <a:ext cx="1152321" cy="982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41FA455-C545-46BB-A3EE-2118C30525C0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4265666" y="728935"/>
            <a:ext cx="1152321" cy="48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E3658A9C-EFEF-40A5-898C-490E9517D82B}"/>
              </a:ext>
            </a:extLst>
          </p:cNvPr>
          <p:cNvSpPr txBox="1"/>
          <p:nvPr/>
        </p:nvSpPr>
        <p:spPr>
          <a:xfrm>
            <a:off x="4306030" y="385300"/>
            <a:ext cx="1064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mapping</a:t>
            </a:r>
            <a:endParaRPr lang="zh-CN" altLang="en-US" sz="1600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8906AD1-DB32-4DB2-9485-99F35A91694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879815" y="885042"/>
            <a:ext cx="0" cy="230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6C55D546-B9EF-4A28-8E9D-DE28DCD38D8C}"/>
              </a:ext>
            </a:extLst>
          </p:cNvPr>
          <p:cNvSpPr txBox="1"/>
          <p:nvPr/>
        </p:nvSpPr>
        <p:spPr>
          <a:xfrm>
            <a:off x="2445023" y="1077518"/>
            <a:ext cx="174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each transaction access only one page</a:t>
            </a:r>
            <a:endParaRPr lang="zh-CN" altLang="en-US" sz="14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95EA9D6-7419-4DAA-9F93-C8655AA564AC}"/>
              </a:ext>
            </a:extLst>
          </p:cNvPr>
          <p:cNvSpPr/>
          <p:nvPr/>
        </p:nvSpPr>
        <p:spPr>
          <a:xfrm>
            <a:off x="169558" y="129531"/>
            <a:ext cx="4116185" cy="2316943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07AEE11-A238-44C6-8BE2-D2E0BACCFA29}"/>
              </a:ext>
            </a:extLst>
          </p:cNvPr>
          <p:cNvSpPr/>
          <p:nvPr/>
        </p:nvSpPr>
        <p:spPr>
          <a:xfrm>
            <a:off x="4358376" y="129531"/>
            <a:ext cx="5128101" cy="2316942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9535162-8AB2-4BBB-A274-AFF57FCECF45}"/>
              </a:ext>
            </a:extLst>
          </p:cNvPr>
          <p:cNvSpPr txBox="1"/>
          <p:nvPr/>
        </p:nvSpPr>
        <p:spPr>
          <a:xfrm>
            <a:off x="4429657" y="2052636"/>
            <a:ext cx="106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FTL</a:t>
            </a:r>
            <a:endParaRPr lang="zh-CN" altLang="en-US" b="1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DC5CE00-1D2E-4258-B523-F2899B9240FB}"/>
              </a:ext>
            </a:extLst>
          </p:cNvPr>
          <p:cNvSpPr txBox="1"/>
          <p:nvPr/>
        </p:nvSpPr>
        <p:spPr>
          <a:xfrm>
            <a:off x="3449581" y="2052636"/>
            <a:ext cx="106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HIL</a:t>
            </a:r>
            <a:endParaRPr lang="zh-CN" altLang="en-US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749457A-DE3A-49A5-8B06-9ED99D3C1D50}"/>
              </a:ext>
            </a:extLst>
          </p:cNvPr>
          <p:cNvSpPr txBox="1"/>
          <p:nvPr/>
        </p:nvSpPr>
        <p:spPr>
          <a:xfrm>
            <a:off x="9468483" y="770172"/>
            <a:ext cx="12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NVM_PHY</a:t>
            </a:r>
            <a:endParaRPr lang="zh-CN" altLang="en-US" b="1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FA6BB55-C103-49D1-91CE-2AA829F07F7C}"/>
              </a:ext>
            </a:extLst>
          </p:cNvPr>
          <p:cNvSpPr txBox="1"/>
          <p:nvPr/>
        </p:nvSpPr>
        <p:spPr>
          <a:xfrm>
            <a:off x="8605676" y="6014958"/>
            <a:ext cx="228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User Request </a:t>
            </a:r>
            <a:r>
              <a:rPr lang="zh-CN" altLang="en-US" dirty="0"/>
              <a:t>的结构</a:t>
            </a: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8877D5E9-179F-406F-934C-9A832BEAB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082" y="2696473"/>
            <a:ext cx="4728284" cy="3203428"/>
          </a:xfrm>
          <a:prstGeom prst="rect">
            <a:avLst/>
          </a:prstGeom>
        </p:spPr>
      </p:pic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72DE2FDA-8B1D-4121-9F22-806735B82B9D}"/>
              </a:ext>
            </a:extLst>
          </p:cNvPr>
          <p:cNvCxnSpPr/>
          <p:nvPr/>
        </p:nvCxnSpPr>
        <p:spPr>
          <a:xfrm>
            <a:off x="8109114" y="3550317"/>
            <a:ext cx="750898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D4DAD091-A21F-4354-A092-139E40F37CD7}"/>
              </a:ext>
            </a:extLst>
          </p:cNvPr>
          <p:cNvCxnSpPr>
            <a:cxnSpLocks/>
          </p:cNvCxnSpPr>
          <p:nvPr/>
        </p:nvCxnSpPr>
        <p:spPr>
          <a:xfrm>
            <a:off x="8399783" y="4991556"/>
            <a:ext cx="1023403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24504A1-1CC6-488E-855D-9EB8DF24A1C7}"/>
              </a:ext>
            </a:extLst>
          </p:cNvPr>
          <p:cNvCxnSpPr>
            <a:cxnSpLocks/>
          </p:cNvCxnSpPr>
          <p:nvPr/>
        </p:nvCxnSpPr>
        <p:spPr>
          <a:xfrm>
            <a:off x="9822856" y="3205144"/>
            <a:ext cx="1071848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01492C50-6BA3-47E8-92CE-D84F2DE96FA3}"/>
              </a:ext>
            </a:extLst>
          </p:cNvPr>
          <p:cNvCxnSpPr>
            <a:cxnSpLocks/>
          </p:cNvCxnSpPr>
          <p:nvPr/>
        </p:nvCxnSpPr>
        <p:spPr>
          <a:xfrm>
            <a:off x="8605676" y="5179280"/>
            <a:ext cx="369393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73D0F66F-B3C9-4D97-A4B2-653D9C7106C2}"/>
              </a:ext>
            </a:extLst>
          </p:cNvPr>
          <p:cNvCxnSpPr>
            <a:cxnSpLocks/>
          </p:cNvCxnSpPr>
          <p:nvPr/>
        </p:nvCxnSpPr>
        <p:spPr>
          <a:xfrm>
            <a:off x="7696429" y="5895562"/>
            <a:ext cx="414810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8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2F2A49-77F2-43DC-BCAD-7FFD7FDABB90}"/>
              </a:ext>
            </a:extLst>
          </p:cNvPr>
          <p:cNvSpPr txBox="1"/>
          <p:nvPr/>
        </p:nvSpPr>
        <p:spPr>
          <a:xfrm>
            <a:off x="458177" y="484505"/>
            <a:ext cx="111504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加入</a:t>
            </a:r>
            <a:r>
              <a:rPr lang="en-US" altLang="zh-CN" dirty="0"/>
              <a:t>SEARCH</a:t>
            </a:r>
            <a:r>
              <a:rPr lang="zh-CN" altLang="en-US" dirty="0"/>
              <a:t>和</a:t>
            </a:r>
            <a:r>
              <a:rPr lang="en-US" altLang="zh-CN" dirty="0"/>
              <a:t>COMPUTE</a:t>
            </a:r>
            <a:r>
              <a:rPr lang="zh-CN" altLang="en-US" dirty="0"/>
              <a:t>指令的修改方案： 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指令切分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X-axis: page + </a:t>
            </a:r>
            <a:r>
              <a:rPr lang="en-US" altLang="zh-CN" dirty="0" err="1"/>
              <a:t>sector_access_bitmap</a:t>
            </a:r>
            <a:r>
              <a:rPr lang="zh-CN" altLang="en-US" dirty="0"/>
              <a:t>；</a:t>
            </a:r>
            <a:r>
              <a:rPr lang="en-US" altLang="zh-CN" dirty="0"/>
              <a:t>Y-axis: block</a:t>
            </a:r>
            <a:r>
              <a:rPr lang="zh-CN" altLang="en-US" dirty="0"/>
              <a:t> ；</a:t>
            </a:r>
            <a:r>
              <a:rPr lang="en-US" altLang="zh-CN" dirty="0"/>
              <a:t>Z-axis: layer</a:t>
            </a:r>
            <a:r>
              <a:rPr lang="zh-CN" altLang="en-US" dirty="0"/>
              <a:t> （</a:t>
            </a:r>
            <a:r>
              <a:rPr lang="en-US" altLang="zh-CN" dirty="0"/>
              <a:t>input</a:t>
            </a:r>
            <a:r>
              <a:rPr lang="zh-CN" altLang="en-US" dirty="0"/>
              <a:t>变化的最小单元）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SEARCH</a:t>
            </a:r>
            <a:r>
              <a:rPr lang="zh-CN" altLang="en-US" dirty="0"/>
              <a:t>和</a:t>
            </a:r>
            <a:r>
              <a:rPr lang="en-US" altLang="zh-CN" dirty="0"/>
              <a:t>COMPUTE</a:t>
            </a:r>
            <a:r>
              <a:rPr lang="zh-CN" altLang="en-US" dirty="0"/>
              <a:t>操作在经过切分、</a:t>
            </a:r>
            <a:r>
              <a:rPr lang="en-US" altLang="zh-CN" dirty="0"/>
              <a:t>mapping</a:t>
            </a:r>
            <a:r>
              <a:rPr lang="zh-CN" altLang="en-US" dirty="0"/>
              <a:t>之后仍然以</a:t>
            </a:r>
            <a:r>
              <a:rPr lang="en-US" altLang="zh-CN" dirty="0"/>
              <a:t>req</a:t>
            </a:r>
            <a:r>
              <a:rPr lang="zh-CN" altLang="en-US" dirty="0"/>
              <a:t>为单位加入</a:t>
            </a:r>
            <a:r>
              <a:rPr lang="en-US" altLang="zh-CN" dirty="0"/>
              <a:t>TSU</a:t>
            </a:r>
            <a:r>
              <a:rPr lang="zh-CN" altLang="en-US" dirty="0"/>
              <a:t>的调度队列中（由于</a:t>
            </a:r>
            <a:r>
              <a:rPr lang="en-US" altLang="zh-CN" dirty="0"/>
              <a:t>SEARCH</a:t>
            </a:r>
            <a:r>
              <a:rPr lang="zh-CN" altLang="en-US" dirty="0"/>
              <a:t>和</a:t>
            </a:r>
            <a:r>
              <a:rPr lang="en-US" altLang="zh-CN" dirty="0"/>
              <a:t>COMPUTE</a:t>
            </a:r>
            <a:r>
              <a:rPr lang="zh-CN" altLang="en-US" dirty="0"/>
              <a:t>操作</a:t>
            </a:r>
            <a:r>
              <a:rPr lang="en-US" altLang="zh-CN" dirty="0"/>
              <a:t>access</a:t>
            </a:r>
            <a:r>
              <a:rPr lang="zh-CN" altLang="en-US" dirty="0"/>
              <a:t>的区域一般是存储静态的数据的，可以把这部分数据的</a:t>
            </a:r>
            <a:r>
              <a:rPr lang="en-US" altLang="zh-CN" dirty="0"/>
              <a:t>mapping table</a:t>
            </a:r>
            <a:r>
              <a:rPr lang="zh-CN" altLang="en-US" dirty="0"/>
              <a:t>一直放在</a:t>
            </a:r>
            <a:r>
              <a:rPr lang="en-US" altLang="zh-CN" dirty="0"/>
              <a:t>cache</a:t>
            </a:r>
            <a:r>
              <a:rPr lang="zh-CN" altLang="en-US" dirty="0"/>
              <a:t>里，可以认为不会有</a:t>
            </a:r>
            <a:r>
              <a:rPr lang="en-US" altLang="zh-CN" dirty="0"/>
              <a:t>mapping</a:t>
            </a:r>
            <a:r>
              <a:rPr lang="zh-CN" altLang="en-US" dirty="0"/>
              <a:t>的</a:t>
            </a:r>
            <a:r>
              <a:rPr lang="en-US" altLang="zh-CN" dirty="0"/>
              <a:t>RD/WR</a:t>
            </a:r>
            <a:r>
              <a:rPr lang="zh-CN" altLang="en-US" dirty="0"/>
              <a:t>操作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配置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划分一个存</a:t>
            </a:r>
            <a:r>
              <a:rPr lang="en-US" altLang="zh-CN" dirty="0"/>
              <a:t>static</a:t>
            </a:r>
            <a:r>
              <a:rPr lang="zh-CN" altLang="en-US" dirty="0"/>
              <a:t>数据的区域，该区域不允许随机的读写操作。</a:t>
            </a:r>
            <a:r>
              <a:rPr lang="en-US" altLang="zh-CN" dirty="0"/>
              <a:t>access</a:t>
            </a:r>
            <a:r>
              <a:rPr lang="zh-CN" altLang="en-US" dirty="0"/>
              <a:t>这个区域的</a:t>
            </a:r>
            <a:r>
              <a:rPr lang="en-US" altLang="zh-CN" dirty="0"/>
              <a:t>mapping</a:t>
            </a:r>
            <a:r>
              <a:rPr lang="zh-CN" altLang="en-US" dirty="0"/>
              <a:t>特殊处理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加上</a:t>
            </a:r>
            <a:r>
              <a:rPr lang="en-US" altLang="zh-CN" dirty="0" err="1"/>
              <a:t>max_parallel_block</a:t>
            </a:r>
            <a:r>
              <a:rPr lang="zh-CN" altLang="en-US" dirty="0"/>
              <a:t>等参数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921A94-EE18-4926-ADA2-BE8F9A1B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09"/>
          <a:stretch>
            <a:fillRect/>
          </a:stretch>
        </p:blipFill>
        <p:spPr>
          <a:xfrm>
            <a:off x="323121" y="3332545"/>
            <a:ext cx="6004178" cy="199831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358A81B-4218-4DC9-BE41-AD4AB045AA6E}"/>
              </a:ext>
            </a:extLst>
          </p:cNvPr>
          <p:cNvSpPr/>
          <p:nvPr/>
        </p:nvSpPr>
        <p:spPr>
          <a:xfrm>
            <a:off x="7800678" y="3742378"/>
            <a:ext cx="3943102" cy="2356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058797-1756-4D1C-8759-5C684AE98A77}"/>
              </a:ext>
            </a:extLst>
          </p:cNvPr>
          <p:cNvSpPr txBox="1"/>
          <p:nvPr/>
        </p:nvSpPr>
        <p:spPr>
          <a:xfrm>
            <a:off x="9463298" y="3722485"/>
            <a:ext cx="86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TSU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6D2BAA-30D4-467E-B242-5DD4EC78D40D}"/>
              </a:ext>
            </a:extLst>
          </p:cNvPr>
          <p:cNvSpPr/>
          <p:nvPr/>
        </p:nvSpPr>
        <p:spPr>
          <a:xfrm>
            <a:off x="7800678" y="4073150"/>
            <a:ext cx="1534964" cy="325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UserQueue</a:t>
            </a:r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284362-5DD1-48B2-8B87-64D5EE14E7D3}"/>
              </a:ext>
            </a:extLst>
          </p:cNvPr>
          <p:cNvSpPr/>
          <p:nvPr/>
        </p:nvSpPr>
        <p:spPr>
          <a:xfrm>
            <a:off x="7800678" y="4582978"/>
            <a:ext cx="1534964" cy="3256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MappingQueue</a:t>
            </a:r>
            <a:endParaRPr lang="zh-CN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38F1CB-484D-4825-98B5-5BDA3F1F254C}"/>
              </a:ext>
            </a:extLst>
          </p:cNvPr>
          <p:cNvSpPr/>
          <p:nvPr/>
        </p:nvSpPr>
        <p:spPr>
          <a:xfrm>
            <a:off x="7800678" y="5078876"/>
            <a:ext cx="1534964" cy="3256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GCQueue</a:t>
            </a:r>
            <a:endParaRPr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11E367-B197-495B-B268-A10C9FD26715}"/>
              </a:ext>
            </a:extLst>
          </p:cNvPr>
          <p:cNvSpPr/>
          <p:nvPr/>
        </p:nvSpPr>
        <p:spPr>
          <a:xfrm>
            <a:off x="9443036" y="4073150"/>
            <a:ext cx="450450" cy="1294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E4B8EB-9B6A-4EA7-9787-BF5A78E9EA3A}"/>
              </a:ext>
            </a:extLst>
          </p:cNvPr>
          <p:cNvSpPr/>
          <p:nvPr/>
        </p:nvSpPr>
        <p:spPr>
          <a:xfrm>
            <a:off x="9443036" y="4269326"/>
            <a:ext cx="450450" cy="1294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B6E9A3-8F7C-4276-8B21-F769E21874C4}"/>
              </a:ext>
            </a:extLst>
          </p:cNvPr>
          <p:cNvSpPr/>
          <p:nvPr/>
        </p:nvSpPr>
        <p:spPr>
          <a:xfrm>
            <a:off x="9463298" y="4581050"/>
            <a:ext cx="450450" cy="12945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5ABCDF-017A-4B2C-8A0E-558538A8FBAF}"/>
              </a:ext>
            </a:extLst>
          </p:cNvPr>
          <p:cNvSpPr/>
          <p:nvPr/>
        </p:nvSpPr>
        <p:spPr>
          <a:xfrm>
            <a:off x="9463298" y="4777226"/>
            <a:ext cx="450450" cy="12945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7756A5-31E6-49CB-8983-2027BF6F4676}"/>
              </a:ext>
            </a:extLst>
          </p:cNvPr>
          <p:cNvSpPr/>
          <p:nvPr/>
        </p:nvSpPr>
        <p:spPr>
          <a:xfrm>
            <a:off x="9461348" y="5014148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52B8BC-D0A6-4359-8898-2371D9D82A63}"/>
              </a:ext>
            </a:extLst>
          </p:cNvPr>
          <p:cNvSpPr/>
          <p:nvPr/>
        </p:nvSpPr>
        <p:spPr>
          <a:xfrm>
            <a:off x="9461348" y="5210324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D7C95A-8F33-44B3-9E66-39F1F6A4AE85}"/>
              </a:ext>
            </a:extLst>
          </p:cNvPr>
          <p:cNvSpPr/>
          <p:nvPr/>
        </p:nvSpPr>
        <p:spPr>
          <a:xfrm>
            <a:off x="9461348" y="5396339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ER</a:t>
            </a:r>
            <a:endParaRPr lang="zh-CN" altLang="en-US" sz="1400" dirty="0"/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CEFFB081-73F3-461F-8FD9-C591AB647421}"/>
              </a:ext>
            </a:extLst>
          </p:cNvPr>
          <p:cNvSpPr/>
          <p:nvPr/>
        </p:nvSpPr>
        <p:spPr>
          <a:xfrm>
            <a:off x="9329996" y="4083268"/>
            <a:ext cx="107394" cy="313652"/>
          </a:xfrm>
          <a:prstGeom prst="lef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2FF660FB-72BA-4A7F-BEBC-EFCBFB0BA0C3}"/>
              </a:ext>
            </a:extLst>
          </p:cNvPr>
          <p:cNvSpPr/>
          <p:nvPr/>
        </p:nvSpPr>
        <p:spPr>
          <a:xfrm>
            <a:off x="9345773" y="4588968"/>
            <a:ext cx="107394" cy="313652"/>
          </a:xfrm>
          <a:prstGeom prst="lef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9E16CECE-3A56-4E10-87F5-17A004AD16B7}"/>
              </a:ext>
            </a:extLst>
          </p:cNvPr>
          <p:cNvSpPr/>
          <p:nvPr/>
        </p:nvSpPr>
        <p:spPr>
          <a:xfrm>
            <a:off x="9353954" y="5014147"/>
            <a:ext cx="107394" cy="511647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4E452D-834A-4591-AECA-432B7EC39AE8}"/>
              </a:ext>
            </a:extLst>
          </p:cNvPr>
          <p:cNvSpPr/>
          <p:nvPr/>
        </p:nvSpPr>
        <p:spPr>
          <a:xfrm>
            <a:off x="11086247" y="5646338"/>
            <a:ext cx="225241" cy="23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DFF5AE-49D0-4E6B-91F2-122D0A255721}"/>
              </a:ext>
            </a:extLst>
          </p:cNvPr>
          <p:cNvSpPr/>
          <p:nvPr/>
        </p:nvSpPr>
        <p:spPr>
          <a:xfrm>
            <a:off x="10859790" y="5646338"/>
            <a:ext cx="225241" cy="23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132A32-77F6-466C-B83C-D2374AD8A3C2}"/>
              </a:ext>
            </a:extLst>
          </p:cNvPr>
          <p:cNvSpPr/>
          <p:nvPr/>
        </p:nvSpPr>
        <p:spPr>
          <a:xfrm>
            <a:off x="10627276" y="5646338"/>
            <a:ext cx="225241" cy="23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9CA6D9-C5A8-4560-835D-9572B36F408A}"/>
              </a:ext>
            </a:extLst>
          </p:cNvPr>
          <p:cNvSpPr/>
          <p:nvPr/>
        </p:nvSpPr>
        <p:spPr>
          <a:xfrm>
            <a:off x="10394762" y="5646338"/>
            <a:ext cx="225241" cy="23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BAE9DD-2ECC-4806-AD82-9799BB5F9944}"/>
              </a:ext>
            </a:extLst>
          </p:cNvPr>
          <p:cNvSpPr/>
          <p:nvPr/>
        </p:nvSpPr>
        <p:spPr>
          <a:xfrm>
            <a:off x="10332589" y="5607027"/>
            <a:ext cx="1011852" cy="325632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E32A2B-EB85-4A2B-929C-CB984D0CBB2C}"/>
              </a:ext>
            </a:extLst>
          </p:cNvPr>
          <p:cNvSpPr txBox="1"/>
          <p:nvPr/>
        </p:nvSpPr>
        <p:spPr>
          <a:xfrm>
            <a:off x="10257996" y="5307784"/>
            <a:ext cx="1189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Command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CBD7B6-3AFC-4008-A333-847060333B45}"/>
              </a:ext>
            </a:extLst>
          </p:cNvPr>
          <p:cNvSpPr/>
          <p:nvPr/>
        </p:nvSpPr>
        <p:spPr>
          <a:xfrm>
            <a:off x="7795032" y="5611173"/>
            <a:ext cx="1534964" cy="325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SearchQueue</a:t>
            </a:r>
            <a:endParaRPr lang="zh-CN" altLang="en-US" sz="1600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071DC81-65B2-43AC-9B8A-40F45E743994}"/>
              </a:ext>
            </a:extLst>
          </p:cNvPr>
          <p:cNvSpPr/>
          <p:nvPr/>
        </p:nvSpPr>
        <p:spPr>
          <a:xfrm>
            <a:off x="6497690" y="5536675"/>
            <a:ext cx="956790" cy="474628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Search req</a:t>
            </a:r>
            <a:endParaRPr lang="zh-CN" altLang="en-US" sz="1400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1648403-9A9F-456B-8A3E-53A04B4E94B7}"/>
              </a:ext>
            </a:extLst>
          </p:cNvPr>
          <p:cNvCxnSpPr>
            <a:stCxn id="30" idx="6"/>
            <a:endCxn id="29" idx="1"/>
          </p:cNvCxnSpPr>
          <p:nvPr/>
        </p:nvCxnSpPr>
        <p:spPr>
          <a:xfrm>
            <a:off x="7454480" y="5773989"/>
            <a:ext cx="3405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3842233B-99B0-4C34-AD8F-F0A3D4E9298A}"/>
              </a:ext>
            </a:extLst>
          </p:cNvPr>
          <p:cNvSpPr/>
          <p:nvPr/>
        </p:nvSpPr>
        <p:spPr>
          <a:xfrm>
            <a:off x="6236927" y="5995683"/>
            <a:ext cx="309185" cy="31576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AA62A1A-CAD5-4FF9-B8E1-7768CD19E649}"/>
              </a:ext>
            </a:extLst>
          </p:cNvPr>
          <p:cNvSpPr/>
          <p:nvPr/>
        </p:nvSpPr>
        <p:spPr>
          <a:xfrm>
            <a:off x="6546112" y="5995683"/>
            <a:ext cx="309185" cy="31576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71A78D6-3991-4A95-8306-47BA459CC06E}"/>
              </a:ext>
            </a:extLst>
          </p:cNvPr>
          <p:cNvSpPr/>
          <p:nvPr/>
        </p:nvSpPr>
        <p:spPr>
          <a:xfrm>
            <a:off x="6855297" y="5995683"/>
            <a:ext cx="309185" cy="31576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D25C4A-4621-47A6-A79E-4119BA58AD32}"/>
              </a:ext>
            </a:extLst>
          </p:cNvPr>
          <p:cNvSpPr/>
          <p:nvPr/>
        </p:nvSpPr>
        <p:spPr>
          <a:xfrm>
            <a:off x="7158998" y="5995683"/>
            <a:ext cx="309185" cy="31576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16B0311-67FD-443B-90A2-24821D1FBB20}"/>
              </a:ext>
            </a:extLst>
          </p:cNvPr>
          <p:cNvSpPr/>
          <p:nvPr/>
        </p:nvSpPr>
        <p:spPr>
          <a:xfrm>
            <a:off x="7454480" y="5995683"/>
            <a:ext cx="309185" cy="31576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DD3442-8651-4847-9612-822F54932805}"/>
              </a:ext>
            </a:extLst>
          </p:cNvPr>
          <p:cNvSpPr/>
          <p:nvPr/>
        </p:nvSpPr>
        <p:spPr>
          <a:xfrm>
            <a:off x="6242407" y="5997458"/>
            <a:ext cx="1534964" cy="315764"/>
          </a:xfrm>
          <a:prstGeom prst="rect">
            <a:avLst/>
          </a:prstGeom>
          <a:noFill/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transactions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51363CE-A4E4-4D72-AB7D-86FC4106A3A1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>
          <a:xfrm flipV="1">
            <a:off x="9329996" y="5769843"/>
            <a:ext cx="1002593" cy="41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02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2F2A49-77F2-43DC-BCAD-7FFD7FDABB90}"/>
              </a:ext>
            </a:extLst>
          </p:cNvPr>
          <p:cNvSpPr txBox="1"/>
          <p:nvPr/>
        </p:nvSpPr>
        <p:spPr>
          <a:xfrm>
            <a:off x="458177" y="484505"/>
            <a:ext cx="111504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能够支持的操作：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READ, WRITE, SEARCH, COMPUTE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CAM-</a:t>
            </a:r>
            <a:r>
              <a:rPr lang="en-US" altLang="zh-CN" dirty="0" err="1"/>
              <a:t>MoE</a:t>
            </a:r>
            <a:r>
              <a:rPr lang="en-US" altLang="zh-CN" dirty="0"/>
              <a:t>: </a:t>
            </a:r>
            <a:r>
              <a:rPr lang="zh-CN" altLang="en-US" dirty="0"/>
              <a:t>用一个指针给</a:t>
            </a:r>
            <a:r>
              <a:rPr lang="en-US" altLang="zh-CN" dirty="0"/>
              <a:t>COMPUTE</a:t>
            </a:r>
            <a:r>
              <a:rPr lang="zh-CN" altLang="en-US" dirty="0"/>
              <a:t>操作标记</a:t>
            </a:r>
            <a:r>
              <a:rPr lang="en-US" altLang="zh-CN" dirty="0"/>
              <a:t>related SEARCH</a:t>
            </a:r>
            <a:r>
              <a:rPr lang="zh-CN" altLang="en-US" dirty="0"/>
              <a:t>，每次发送</a:t>
            </a:r>
            <a:r>
              <a:rPr lang="en-US" altLang="zh-CN" dirty="0"/>
              <a:t>command</a:t>
            </a:r>
            <a:r>
              <a:rPr lang="zh-CN" altLang="en-US" dirty="0"/>
              <a:t>的时候在</a:t>
            </a:r>
            <a:r>
              <a:rPr lang="en-US" altLang="zh-CN" dirty="0"/>
              <a:t>COMPUTE transaction</a:t>
            </a:r>
            <a:r>
              <a:rPr lang="zh-CN" altLang="en-US" dirty="0"/>
              <a:t>前面加上</a:t>
            </a:r>
            <a:r>
              <a:rPr lang="en-US" altLang="zh-CN" dirty="0"/>
              <a:t>related SEARCH transaction</a:t>
            </a:r>
            <a:r>
              <a:rPr lang="zh-CN" altLang="en-US" dirty="0"/>
              <a:t>即可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支持</a:t>
            </a:r>
            <a:r>
              <a:rPr lang="en-US" altLang="zh-CN" dirty="0"/>
              <a:t>KV cache</a:t>
            </a:r>
            <a:r>
              <a:rPr lang="zh-CN" altLang="en-US" dirty="0"/>
              <a:t>放入</a:t>
            </a:r>
            <a:r>
              <a:rPr lang="en-US" altLang="zh-CN" dirty="0"/>
              <a:t>HBF</a:t>
            </a:r>
            <a:r>
              <a:rPr lang="zh-CN" altLang="en-US" dirty="0"/>
              <a:t>？（还没想好）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用作</a:t>
            </a:r>
            <a:r>
              <a:rPr lang="en-US" altLang="zh-CN" dirty="0"/>
              <a:t>storage/DRAM</a:t>
            </a:r>
            <a:r>
              <a:rPr lang="zh-CN" altLang="en-US" dirty="0"/>
              <a:t>、</a:t>
            </a:r>
            <a:r>
              <a:rPr lang="en-US" altLang="zh-CN" dirty="0"/>
              <a:t>dynamic CIM</a:t>
            </a:r>
            <a:r>
              <a:rPr lang="zh-CN" altLang="en-US" dirty="0"/>
              <a:t>、</a:t>
            </a:r>
            <a:r>
              <a:rPr lang="en-US" altLang="zh-CN" dirty="0"/>
              <a:t>static CIM</a:t>
            </a:r>
            <a:r>
              <a:rPr lang="zh-CN" altLang="en-US" dirty="0"/>
              <a:t>的</a:t>
            </a:r>
            <a:r>
              <a:rPr lang="en-US" altLang="zh-CN" dirty="0"/>
              <a:t>Flash</a:t>
            </a:r>
            <a:r>
              <a:rPr lang="zh-CN" altLang="en-US" dirty="0"/>
              <a:t>分区调度方法应该是有明显不同的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FF0000"/>
                </a:solidFill>
              </a:rPr>
              <a:t>dynamic CIM</a:t>
            </a:r>
            <a:r>
              <a:rPr lang="zh-CN" altLang="en-US" dirty="0">
                <a:solidFill>
                  <a:srgbClr val="FF0000"/>
                </a:solidFill>
              </a:rPr>
              <a:t>暂不考虑，先考虑</a:t>
            </a:r>
            <a:r>
              <a:rPr lang="en-US" altLang="zh-CN" dirty="0">
                <a:solidFill>
                  <a:srgbClr val="FF0000"/>
                </a:solidFill>
              </a:rPr>
              <a:t>storage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static</a:t>
            </a:r>
            <a:r>
              <a:rPr lang="zh-CN" altLang="en-US" dirty="0">
                <a:solidFill>
                  <a:srgbClr val="FF0000"/>
                </a:solidFill>
              </a:rPr>
              <a:t>两种分区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087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20BA8F4-B1F5-4C45-BBE3-7E80F0EF852A}"/>
              </a:ext>
            </a:extLst>
          </p:cNvPr>
          <p:cNvSpPr/>
          <p:nvPr/>
        </p:nvSpPr>
        <p:spPr>
          <a:xfrm>
            <a:off x="2725222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F4F05F-7076-4504-9116-9A659987CFCD}"/>
              </a:ext>
            </a:extLst>
          </p:cNvPr>
          <p:cNvSpPr/>
          <p:nvPr/>
        </p:nvSpPr>
        <p:spPr>
          <a:xfrm>
            <a:off x="3034407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1CB9E6-4193-4597-89C2-4504676037BC}"/>
              </a:ext>
            </a:extLst>
          </p:cNvPr>
          <p:cNvSpPr/>
          <p:nvPr/>
        </p:nvSpPr>
        <p:spPr>
          <a:xfrm>
            <a:off x="3343592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BD0789-FE76-4191-994D-24B83E0B0930}"/>
              </a:ext>
            </a:extLst>
          </p:cNvPr>
          <p:cNvSpPr/>
          <p:nvPr/>
        </p:nvSpPr>
        <p:spPr>
          <a:xfrm>
            <a:off x="3647293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84512A-3F8E-4243-9E94-512CFB55972E}"/>
              </a:ext>
            </a:extLst>
          </p:cNvPr>
          <p:cNvSpPr/>
          <p:nvPr/>
        </p:nvSpPr>
        <p:spPr>
          <a:xfrm>
            <a:off x="3942775" y="569278"/>
            <a:ext cx="309185" cy="315764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81A716-A9E5-4B94-8892-920711772A82}"/>
              </a:ext>
            </a:extLst>
          </p:cNvPr>
          <p:cNvSpPr/>
          <p:nvPr/>
        </p:nvSpPr>
        <p:spPr>
          <a:xfrm>
            <a:off x="242191" y="569278"/>
            <a:ext cx="1427517" cy="315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Stream_1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CE0783-6B9F-49AB-8029-C16461D6F6B0}"/>
              </a:ext>
            </a:extLst>
          </p:cNvPr>
          <p:cNvSpPr/>
          <p:nvPr/>
        </p:nvSpPr>
        <p:spPr>
          <a:xfrm>
            <a:off x="242191" y="1010032"/>
            <a:ext cx="1427517" cy="315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Stream_2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2AAF5D-9D54-4ED1-8311-250381E6ADB3}"/>
              </a:ext>
            </a:extLst>
          </p:cNvPr>
          <p:cNvSpPr/>
          <p:nvPr/>
        </p:nvSpPr>
        <p:spPr>
          <a:xfrm>
            <a:off x="242191" y="1786285"/>
            <a:ext cx="1427517" cy="3157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Stream_n</a:t>
            </a:r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4370C99-356A-4AC7-B11C-E06A47A7D80D}"/>
              </a:ext>
            </a:extLst>
          </p:cNvPr>
          <p:cNvSpPr/>
          <p:nvPr/>
        </p:nvSpPr>
        <p:spPr>
          <a:xfrm>
            <a:off x="1947529" y="569278"/>
            <a:ext cx="763096" cy="3157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req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E4F03E-19A3-4589-9579-7AC5FDD71C5E}"/>
              </a:ext>
            </a:extLst>
          </p:cNvPr>
          <p:cNvSpPr/>
          <p:nvPr/>
        </p:nvSpPr>
        <p:spPr>
          <a:xfrm>
            <a:off x="2730702" y="571053"/>
            <a:ext cx="1534964" cy="3157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transactions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65D6DA-9A6D-4350-9FE6-A3C81DBD0090}"/>
              </a:ext>
            </a:extLst>
          </p:cNvPr>
          <p:cNvSpPr/>
          <p:nvPr/>
        </p:nvSpPr>
        <p:spPr>
          <a:xfrm>
            <a:off x="5417987" y="211947"/>
            <a:ext cx="3943102" cy="1873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ED71D2-6FB9-43FC-9F0E-436E7EF94220}"/>
              </a:ext>
            </a:extLst>
          </p:cNvPr>
          <p:cNvSpPr/>
          <p:nvPr/>
        </p:nvSpPr>
        <p:spPr>
          <a:xfrm>
            <a:off x="10712136" y="462592"/>
            <a:ext cx="1328841" cy="15327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Flash Chips</a:t>
            </a:r>
            <a:endParaRPr lang="zh-CN" altLang="en-US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450FD7D-C964-466F-BE03-C1BB1F2EAC7F}"/>
              </a:ext>
            </a:extLst>
          </p:cNvPr>
          <p:cNvSpPr txBox="1"/>
          <p:nvPr/>
        </p:nvSpPr>
        <p:spPr>
          <a:xfrm>
            <a:off x="387113" y="3011703"/>
            <a:ext cx="612493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FTL</a:t>
            </a:r>
            <a:r>
              <a:rPr lang="zh-CN" altLang="en-US" dirty="0"/>
              <a:t>中的调度算法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Address Mapping Unit</a:t>
            </a:r>
            <a:r>
              <a:rPr lang="zh-CN" altLang="en-US" dirty="0"/>
              <a:t>中的</a:t>
            </a:r>
            <a:r>
              <a:rPr lang="en-US" altLang="zh-CN" dirty="0"/>
              <a:t>CMT</a:t>
            </a:r>
            <a:r>
              <a:rPr lang="zh-CN" altLang="en-US" dirty="0"/>
              <a:t>管理（</a:t>
            </a:r>
            <a:r>
              <a:rPr lang="en-US" altLang="zh-CN" dirty="0"/>
              <a:t>DFTL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/>
              <a:t>TSU</a:t>
            </a:r>
            <a:r>
              <a:rPr lang="zh-CN" altLang="en-US" dirty="0"/>
              <a:t>中的</a:t>
            </a:r>
            <a:r>
              <a:rPr lang="en-US" altLang="zh-CN" dirty="0"/>
              <a:t>transaction</a:t>
            </a:r>
            <a:r>
              <a:rPr lang="zh-CN" altLang="en-US" dirty="0"/>
              <a:t>调度（</a:t>
            </a:r>
            <a:r>
              <a:rPr lang="en-US" altLang="zh-CN" dirty="0"/>
              <a:t>FLIN</a:t>
            </a:r>
            <a:r>
              <a:rPr lang="zh-CN" altLang="en-US" dirty="0"/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A355AA-40BC-465A-9D80-3693DAA46033}"/>
              </a:ext>
            </a:extLst>
          </p:cNvPr>
          <p:cNvSpPr txBox="1"/>
          <p:nvPr/>
        </p:nvSpPr>
        <p:spPr>
          <a:xfrm>
            <a:off x="7080607" y="192054"/>
            <a:ext cx="86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TSU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7D2AA0-CEBD-431E-A8C6-5F8B17EE34ED}"/>
              </a:ext>
            </a:extLst>
          </p:cNvPr>
          <p:cNvSpPr/>
          <p:nvPr/>
        </p:nvSpPr>
        <p:spPr>
          <a:xfrm>
            <a:off x="5417987" y="542719"/>
            <a:ext cx="1534964" cy="3256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UserQueue</a:t>
            </a:r>
            <a:endParaRPr lang="zh-CN" altLang="en-US" sz="16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3BF292-E7D9-4EE0-9801-D5D3B6849F15}"/>
              </a:ext>
            </a:extLst>
          </p:cNvPr>
          <p:cNvSpPr/>
          <p:nvPr/>
        </p:nvSpPr>
        <p:spPr>
          <a:xfrm>
            <a:off x="5417987" y="1052547"/>
            <a:ext cx="1534964" cy="3256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MappingQueue</a:t>
            </a:r>
            <a:endParaRPr lang="zh-CN" altLang="en-US" sz="16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241494-3DE4-4B8E-9318-1025DB4BF9AE}"/>
              </a:ext>
            </a:extLst>
          </p:cNvPr>
          <p:cNvSpPr/>
          <p:nvPr/>
        </p:nvSpPr>
        <p:spPr>
          <a:xfrm>
            <a:off x="5417987" y="1548445"/>
            <a:ext cx="1534964" cy="3256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GCQueue</a:t>
            </a:r>
            <a:endParaRPr lang="zh-CN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38DEFA-6A3B-495B-B02E-96DEC3553AA3}"/>
              </a:ext>
            </a:extLst>
          </p:cNvPr>
          <p:cNvSpPr/>
          <p:nvPr/>
        </p:nvSpPr>
        <p:spPr>
          <a:xfrm>
            <a:off x="7060345" y="542719"/>
            <a:ext cx="450450" cy="1294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722313-AB34-446F-BF6E-57DA3218F887}"/>
              </a:ext>
            </a:extLst>
          </p:cNvPr>
          <p:cNvSpPr/>
          <p:nvPr/>
        </p:nvSpPr>
        <p:spPr>
          <a:xfrm>
            <a:off x="7060345" y="738895"/>
            <a:ext cx="450450" cy="1294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74F19F-9274-49F0-8F05-49AF6145B9EB}"/>
              </a:ext>
            </a:extLst>
          </p:cNvPr>
          <p:cNvSpPr/>
          <p:nvPr/>
        </p:nvSpPr>
        <p:spPr>
          <a:xfrm>
            <a:off x="7080607" y="1050619"/>
            <a:ext cx="450450" cy="12945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5618B1-C22F-4FB2-81CE-32D495074C99}"/>
              </a:ext>
            </a:extLst>
          </p:cNvPr>
          <p:cNvSpPr/>
          <p:nvPr/>
        </p:nvSpPr>
        <p:spPr>
          <a:xfrm>
            <a:off x="7080607" y="1246795"/>
            <a:ext cx="450450" cy="12945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46558A-975B-411A-805B-521789D945BE}"/>
              </a:ext>
            </a:extLst>
          </p:cNvPr>
          <p:cNvSpPr/>
          <p:nvPr/>
        </p:nvSpPr>
        <p:spPr>
          <a:xfrm>
            <a:off x="7078657" y="1483717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RD</a:t>
            </a:r>
            <a:endParaRPr lang="zh-CN" altLang="en-US" sz="14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FBA2401-1CCF-4E7D-977F-CFBC4032D459}"/>
              </a:ext>
            </a:extLst>
          </p:cNvPr>
          <p:cNvSpPr/>
          <p:nvPr/>
        </p:nvSpPr>
        <p:spPr>
          <a:xfrm>
            <a:off x="7078657" y="1679893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WR</a:t>
            </a:r>
            <a:endParaRPr lang="zh-CN" altLang="en-US" sz="1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395B71-7B6F-4173-8BFC-9DCD17B62634}"/>
              </a:ext>
            </a:extLst>
          </p:cNvPr>
          <p:cNvSpPr/>
          <p:nvPr/>
        </p:nvSpPr>
        <p:spPr>
          <a:xfrm>
            <a:off x="7078657" y="1865908"/>
            <a:ext cx="450450" cy="12945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ER</a:t>
            </a:r>
            <a:endParaRPr lang="zh-CN" altLang="en-US" sz="1400" dirty="0"/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5C82ADCE-96F3-4775-80D6-5E557F370DF9}"/>
              </a:ext>
            </a:extLst>
          </p:cNvPr>
          <p:cNvSpPr/>
          <p:nvPr/>
        </p:nvSpPr>
        <p:spPr>
          <a:xfrm>
            <a:off x="6947305" y="552837"/>
            <a:ext cx="107394" cy="313652"/>
          </a:xfrm>
          <a:prstGeom prst="leftBrac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左大括号 36">
            <a:extLst>
              <a:ext uri="{FF2B5EF4-FFF2-40B4-BE49-F238E27FC236}">
                <a16:creationId xmlns:a16="http://schemas.microsoft.com/office/drawing/2014/main" id="{CF22BFC0-5788-4E63-B078-A0A385A2C67B}"/>
              </a:ext>
            </a:extLst>
          </p:cNvPr>
          <p:cNvSpPr/>
          <p:nvPr/>
        </p:nvSpPr>
        <p:spPr>
          <a:xfrm>
            <a:off x="6963082" y="1058537"/>
            <a:ext cx="107394" cy="313652"/>
          </a:xfrm>
          <a:prstGeom prst="lef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2424041E-A087-4DEA-966E-9A332594AF5C}"/>
              </a:ext>
            </a:extLst>
          </p:cNvPr>
          <p:cNvSpPr/>
          <p:nvPr/>
        </p:nvSpPr>
        <p:spPr>
          <a:xfrm>
            <a:off x="6971263" y="1483716"/>
            <a:ext cx="107394" cy="511647"/>
          </a:xfrm>
          <a:prstGeom prst="leftBrac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862E2C-387D-4B7D-B976-35FA0D37454D}"/>
              </a:ext>
            </a:extLst>
          </p:cNvPr>
          <p:cNvSpPr/>
          <p:nvPr/>
        </p:nvSpPr>
        <p:spPr>
          <a:xfrm>
            <a:off x="8657492" y="1032652"/>
            <a:ext cx="225241" cy="23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2A1B7F-B621-44D9-892B-F92BF050048A}"/>
              </a:ext>
            </a:extLst>
          </p:cNvPr>
          <p:cNvSpPr/>
          <p:nvPr/>
        </p:nvSpPr>
        <p:spPr>
          <a:xfrm>
            <a:off x="8431035" y="1032652"/>
            <a:ext cx="225241" cy="2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0987703-9992-4F0B-8933-786ADC0E9A3E}"/>
              </a:ext>
            </a:extLst>
          </p:cNvPr>
          <p:cNvSpPr/>
          <p:nvPr/>
        </p:nvSpPr>
        <p:spPr>
          <a:xfrm>
            <a:off x="8198521" y="1032652"/>
            <a:ext cx="225241" cy="2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0B57C5A-2763-4133-94E0-E41AD84E1596}"/>
              </a:ext>
            </a:extLst>
          </p:cNvPr>
          <p:cNvSpPr/>
          <p:nvPr/>
        </p:nvSpPr>
        <p:spPr>
          <a:xfrm>
            <a:off x="7966007" y="1032652"/>
            <a:ext cx="225241" cy="2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3C04849-B8F1-40A2-B632-CCE715FCB853}"/>
              </a:ext>
            </a:extLst>
          </p:cNvPr>
          <p:cNvCxnSpPr/>
          <p:nvPr/>
        </p:nvCxnSpPr>
        <p:spPr>
          <a:xfrm>
            <a:off x="7529107" y="1115347"/>
            <a:ext cx="411877" cy="33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7CF30A8-8FF2-4964-97AD-E6A93BA2B840}"/>
              </a:ext>
            </a:extLst>
          </p:cNvPr>
          <p:cNvCxnSpPr>
            <a:cxnSpLocks/>
          </p:cNvCxnSpPr>
          <p:nvPr/>
        </p:nvCxnSpPr>
        <p:spPr>
          <a:xfrm>
            <a:off x="7510795" y="613117"/>
            <a:ext cx="1211174" cy="39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F2D9B6EA-65A0-441A-BB56-160CCBB56C45}"/>
              </a:ext>
            </a:extLst>
          </p:cNvPr>
          <p:cNvSpPr/>
          <p:nvPr/>
        </p:nvSpPr>
        <p:spPr>
          <a:xfrm>
            <a:off x="7903834" y="993341"/>
            <a:ext cx="1011852" cy="325632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C426FE5-3580-4A0F-8988-61883302E8F4}"/>
              </a:ext>
            </a:extLst>
          </p:cNvPr>
          <p:cNvSpPr txBox="1"/>
          <p:nvPr/>
        </p:nvSpPr>
        <p:spPr>
          <a:xfrm>
            <a:off x="7802751" y="1303963"/>
            <a:ext cx="1189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</a:rPr>
              <a:t>Command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6625120-3FC6-4137-81B9-125C0ED6C4A1}"/>
              </a:ext>
            </a:extLst>
          </p:cNvPr>
          <p:cNvCxnSpPr>
            <a:cxnSpLocks/>
          </p:cNvCxnSpPr>
          <p:nvPr/>
        </p:nvCxnSpPr>
        <p:spPr>
          <a:xfrm>
            <a:off x="8991793" y="1139504"/>
            <a:ext cx="16297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85AC96B-C98C-4256-827B-7EFB2C7E135A}"/>
              </a:ext>
            </a:extLst>
          </p:cNvPr>
          <p:cNvCxnSpPr>
            <a:cxnSpLocks/>
            <a:stCxn id="12" idx="3"/>
            <a:endCxn id="16" idx="2"/>
          </p:cNvCxnSpPr>
          <p:nvPr/>
        </p:nvCxnSpPr>
        <p:spPr>
          <a:xfrm>
            <a:off x="1669708" y="727160"/>
            <a:ext cx="277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B374E2C-5152-4CB0-B051-8F8FD8B2F3F9}"/>
              </a:ext>
            </a:extLst>
          </p:cNvPr>
          <p:cNvCxnSpPr>
            <a:cxnSpLocks/>
            <a:stCxn id="23" idx="3"/>
            <a:endCxn id="6" idx="1"/>
          </p:cNvCxnSpPr>
          <p:nvPr/>
        </p:nvCxnSpPr>
        <p:spPr>
          <a:xfrm flipV="1">
            <a:off x="4251960" y="705535"/>
            <a:ext cx="1166027" cy="21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49762F8-2CE1-4DDE-AEC2-857F2F4CD3B8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4265666" y="728935"/>
            <a:ext cx="1152321" cy="982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41FA455-C545-46BB-A3EE-2118C30525C0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4265666" y="728935"/>
            <a:ext cx="1152321" cy="48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E3658A9C-EFEF-40A5-898C-490E9517D82B}"/>
              </a:ext>
            </a:extLst>
          </p:cNvPr>
          <p:cNvSpPr txBox="1"/>
          <p:nvPr/>
        </p:nvSpPr>
        <p:spPr>
          <a:xfrm>
            <a:off x="4306030" y="385300"/>
            <a:ext cx="1064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mapping</a:t>
            </a:r>
            <a:endParaRPr lang="zh-CN" altLang="en-US" sz="1600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8906AD1-DB32-4DB2-9485-99F35A91694E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879815" y="885042"/>
            <a:ext cx="0" cy="230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6C55D546-B9EF-4A28-8E9D-DE28DCD38D8C}"/>
              </a:ext>
            </a:extLst>
          </p:cNvPr>
          <p:cNvSpPr txBox="1"/>
          <p:nvPr/>
        </p:nvSpPr>
        <p:spPr>
          <a:xfrm>
            <a:off x="2445023" y="1077518"/>
            <a:ext cx="174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each transaction access only one page</a:t>
            </a:r>
            <a:endParaRPr lang="zh-CN" altLang="en-US" sz="14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95EA9D6-7419-4DAA-9F93-C8655AA564AC}"/>
              </a:ext>
            </a:extLst>
          </p:cNvPr>
          <p:cNvSpPr/>
          <p:nvPr/>
        </p:nvSpPr>
        <p:spPr>
          <a:xfrm>
            <a:off x="169558" y="129531"/>
            <a:ext cx="4116185" cy="2316943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07AEE11-A238-44C6-8BE2-D2E0BACCFA29}"/>
              </a:ext>
            </a:extLst>
          </p:cNvPr>
          <p:cNvSpPr/>
          <p:nvPr/>
        </p:nvSpPr>
        <p:spPr>
          <a:xfrm>
            <a:off x="4358376" y="129531"/>
            <a:ext cx="5128101" cy="2316942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9535162-8AB2-4BBB-A274-AFF57FCECF45}"/>
              </a:ext>
            </a:extLst>
          </p:cNvPr>
          <p:cNvSpPr txBox="1"/>
          <p:nvPr/>
        </p:nvSpPr>
        <p:spPr>
          <a:xfrm>
            <a:off x="4429657" y="2052636"/>
            <a:ext cx="106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FTL</a:t>
            </a:r>
            <a:endParaRPr lang="zh-CN" altLang="en-US" b="1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DC5CE00-1D2E-4258-B523-F2899B9240FB}"/>
              </a:ext>
            </a:extLst>
          </p:cNvPr>
          <p:cNvSpPr txBox="1"/>
          <p:nvPr/>
        </p:nvSpPr>
        <p:spPr>
          <a:xfrm>
            <a:off x="3449581" y="2052636"/>
            <a:ext cx="1064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HIL</a:t>
            </a:r>
            <a:endParaRPr lang="zh-CN" altLang="en-US" b="1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749457A-DE3A-49A5-8B06-9ED99D3C1D50}"/>
              </a:ext>
            </a:extLst>
          </p:cNvPr>
          <p:cNvSpPr txBox="1"/>
          <p:nvPr/>
        </p:nvSpPr>
        <p:spPr>
          <a:xfrm>
            <a:off x="9468483" y="770172"/>
            <a:ext cx="120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NVM_PHY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85428446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373</Words>
  <Application>Microsoft Office PowerPoint</Application>
  <PresentationFormat>宽屏</PresentationFormat>
  <Paragraphs>83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Tongbin Zhao</dc:creator>
  <cp:lastModifiedBy>Tongbin Zhao</cp:lastModifiedBy>
  <cp:revision>35</cp:revision>
  <dcterms:created xsi:type="dcterms:W3CDTF">2023-08-09T12:44:00Z</dcterms:created>
  <dcterms:modified xsi:type="dcterms:W3CDTF">2026-03-01T10:04:11Z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